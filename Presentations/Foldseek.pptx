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5" autoAdjust="0"/>
    <p:restoredTop sz="64481"/>
  </p:normalViewPr>
  <p:slideViewPr>
    <p:cSldViewPr snapToGrid="0">
      <p:cViewPr varScale="1">
        <p:scale>
          <a:sx n="36" d="100"/>
          <a:sy n="36" d="100"/>
        </p:scale>
        <p:origin x="224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2D5EA-A51F-4FB6-A4B7-97761132FF9C}" type="datetimeFigureOut">
              <a:rPr lang="de-AT" smtClean="0"/>
              <a:t>27.05.26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00A32F-859D-4B79-B9B5-AA23D40F011E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4201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0A32F-859D-4B79-B9B5-AA23D40F011E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63701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Copy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accession</a:t>
            </a:r>
            <a:r>
              <a:rPr lang="de-AT" dirty="0"/>
              <a:t> </a:t>
            </a:r>
            <a:r>
              <a:rPr lang="de-AT" dirty="0" err="1"/>
              <a:t>number</a:t>
            </a:r>
            <a:r>
              <a:rPr lang="de-AT" dirty="0"/>
              <a:t> and </a:t>
            </a:r>
            <a:r>
              <a:rPr lang="de-AT" dirty="0" err="1"/>
              <a:t>change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database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Alpha Fold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0A32F-859D-4B79-B9B5-AA23D40F011E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50272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err="1"/>
              <a:t>Foldseek</a:t>
            </a:r>
            <a:r>
              <a:rPr lang="de-AT" dirty="0"/>
              <a:t> </a:t>
            </a:r>
            <a:r>
              <a:rPr lang="de-AT" dirty="0" err="1"/>
              <a:t>supports</a:t>
            </a:r>
            <a:r>
              <a:rPr lang="de-AT" dirty="0"/>
              <a:t> </a:t>
            </a:r>
            <a:r>
              <a:rPr lang="de-AT" dirty="0" err="1"/>
              <a:t>both</a:t>
            </a:r>
            <a:r>
              <a:rPr lang="de-AT" dirty="0"/>
              <a:t> Monomer and </a:t>
            </a:r>
            <a:r>
              <a:rPr lang="de-AT" dirty="0" err="1"/>
              <a:t>Multimer</a:t>
            </a:r>
            <a:r>
              <a:rPr lang="de-AT" dirty="0"/>
              <a:t> </a:t>
            </a:r>
            <a:r>
              <a:rPr lang="de-AT" dirty="0" err="1"/>
              <a:t>search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0A32F-859D-4B79-B9B5-AA23D40F011E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60910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Foldseek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modern tool for fast protein structure comparison. Since another presenter explains how it works, I will focus on its advantages, disadvantages, and applications.”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0A32F-859D-4B79-B9B5-AA23D40F011E}" type="slidenum">
              <a:rPr lang="de-AT" smtClean="0"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1649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biggest advantage is speed.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Foldseek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compare millions of protein structures very efficiently. It is also sensitive enough to detect structural similarities even when sequences differ strongly.”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main disadvantage is that the speed comes from approximations. Therefore, very detailed alignments may be less accurate than with classical structural alignment tools.”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0A32F-859D-4B79-B9B5-AA23D40F011E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40682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Foldseek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widely used in protein function prediction, evolutionary biology, and analysis of AlphaFold databases. It is also becoming important in drug discovery.”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0A32F-859D-4B79-B9B5-AA23D40F011E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97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 summary,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Foldseek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changed structural bioinformatics by making large-scale protein structure search practical.”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0A32F-859D-4B79-B9B5-AA23D40F011E}" type="slidenum">
              <a:rPr lang="de-AT" smtClean="0"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90788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929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081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02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0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9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41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329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870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39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73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6D2745-AF13-4C60-8A0D-598EF8A14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>
            <a:normAutofit/>
          </a:bodyPr>
          <a:lstStyle/>
          <a:p>
            <a:pPr algn="l"/>
            <a:r>
              <a:rPr lang="de-AT" sz="5400" dirty="0" err="1"/>
              <a:t>Foldseek</a:t>
            </a:r>
            <a:endParaRPr lang="de-AT" sz="54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A10750-133A-CE1F-BB54-B421127DD8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7"/>
            <a:ext cx="4206240" cy="1184584"/>
          </a:xfrm>
        </p:spPr>
        <p:txBody>
          <a:bodyPr>
            <a:normAutofit/>
          </a:bodyPr>
          <a:lstStyle/>
          <a:p>
            <a:pPr algn="l"/>
            <a:r>
              <a:rPr lang="de-AT"/>
              <a:t>Presented</a:t>
            </a:r>
            <a:r>
              <a:rPr lang="de-AT" dirty="0"/>
              <a:t> </a:t>
            </a:r>
            <a:r>
              <a:rPr lang="de-AT"/>
              <a:t>by</a:t>
            </a:r>
            <a:r>
              <a:rPr lang="de-AT" dirty="0"/>
              <a:t> Emelie Koza and Pauline Moser</a:t>
            </a:r>
            <a:endParaRPr lang="de-A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E86418-8E37-6690-D448-D6B29C38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91" r="23620" b="2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154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60956B-64BA-8325-B82E-FDE4B5995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What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Foldseek</a:t>
            </a:r>
            <a:r>
              <a:rPr lang="de-AT" dirty="0"/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327631-1141-A87A-2107-AAE43825E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A </a:t>
            </a:r>
            <a:r>
              <a:rPr lang="de-AT" dirty="0" err="1"/>
              <a:t>protein</a:t>
            </a:r>
            <a:r>
              <a:rPr lang="de-AT" dirty="0"/>
              <a:t> </a:t>
            </a:r>
            <a:r>
              <a:rPr lang="de-AT" dirty="0" err="1"/>
              <a:t>structure</a:t>
            </a:r>
            <a:r>
              <a:rPr lang="de-AT" dirty="0"/>
              <a:t> </a:t>
            </a:r>
            <a:r>
              <a:rPr lang="de-AT" dirty="0" err="1"/>
              <a:t>search</a:t>
            </a:r>
            <a:r>
              <a:rPr lang="de-AT" dirty="0"/>
              <a:t> </a:t>
            </a:r>
            <a:r>
              <a:rPr lang="de-AT" dirty="0" err="1"/>
              <a:t>tool</a:t>
            </a:r>
            <a:r>
              <a:rPr lang="de-AT" dirty="0"/>
              <a:t> </a:t>
            </a:r>
            <a:r>
              <a:rPr lang="de-AT" dirty="0" err="1"/>
              <a:t>that</a:t>
            </a:r>
            <a:r>
              <a:rPr lang="de-AT" dirty="0"/>
              <a:t> </a:t>
            </a:r>
            <a:r>
              <a:rPr lang="de-AT" dirty="0" err="1"/>
              <a:t>compares</a:t>
            </a:r>
            <a:r>
              <a:rPr lang="de-AT" dirty="0"/>
              <a:t> 3D </a:t>
            </a:r>
            <a:r>
              <a:rPr lang="de-AT" dirty="0" err="1"/>
              <a:t>protein</a:t>
            </a:r>
            <a:r>
              <a:rPr lang="de-AT" dirty="0"/>
              <a:t> </a:t>
            </a:r>
            <a:r>
              <a:rPr lang="de-AT" dirty="0" err="1"/>
              <a:t>structures</a:t>
            </a:r>
            <a:r>
              <a:rPr lang="de-AT" dirty="0"/>
              <a:t> at </a:t>
            </a:r>
            <a:r>
              <a:rPr lang="de-AT" dirty="0" err="1"/>
              <a:t>remarkable</a:t>
            </a:r>
            <a:r>
              <a:rPr lang="de-AT" dirty="0"/>
              <a:t> </a:t>
            </a:r>
            <a:r>
              <a:rPr lang="de-AT" dirty="0" err="1"/>
              <a:t>speed</a:t>
            </a:r>
            <a:endParaRPr lang="de-AT" dirty="0"/>
          </a:p>
          <a:p>
            <a:r>
              <a:rPr lang="de-AT" dirty="0" err="1"/>
              <a:t>Compares</a:t>
            </a:r>
            <a:r>
              <a:rPr lang="de-AT" dirty="0"/>
              <a:t> </a:t>
            </a:r>
            <a:r>
              <a:rPr lang="de-AT" dirty="0" err="1"/>
              <a:t>based</a:t>
            </a:r>
            <a:r>
              <a:rPr lang="de-AT" dirty="0"/>
              <a:t> on </a:t>
            </a:r>
            <a:r>
              <a:rPr lang="de-AT" dirty="0" err="1"/>
              <a:t>structure</a:t>
            </a:r>
            <a:r>
              <a:rPr lang="de-AT" dirty="0"/>
              <a:t>, </a:t>
            </a:r>
            <a:r>
              <a:rPr lang="de-AT" dirty="0" err="1"/>
              <a:t>allows</a:t>
            </a:r>
            <a:r>
              <a:rPr lang="de-AT" dirty="0"/>
              <a:t>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detection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distantly</a:t>
            </a:r>
            <a:r>
              <a:rPr lang="de-AT" dirty="0"/>
              <a:t> </a:t>
            </a:r>
            <a:r>
              <a:rPr lang="de-AT" dirty="0" err="1"/>
              <a:t>related</a:t>
            </a:r>
            <a:r>
              <a:rPr lang="de-AT" dirty="0"/>
              <a:t> </a:t>
            </a:r>
            <a:r>
              <a:rPr lang="de-AT" dirty="0" err="1"/>
              <a:t>proteins</a:t>
            </a:r>
            <a:endParaRPr lang="de-AT" dirty="0"/>
          </a:p>
          <a:p>
            <a:r>
              <a:rPr lang="de-AT" b="1" dirty="0"/>
              <a:t>The </a:t>
            </a:r>
            <a:r>
              <a:rPr lang="de-AT" b="1" dirty="0" err="1"/>
              <a:t>problem</a:t>
            </a:r>
            <a:r>
              <a:rPr lang="de-AT" dirty="0"/>
              <a:t>: </a:t>
            </a:r>
            <a:r>
              <a:rPr lang="de-AT" dirty="0" err="1"/>
              <a:t>millions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protein</a:t>
            </a:r>
            <a:r>
              <a:rPr lang="de-AT" dirty="0"/>
              <a:t> </a:t>
            </a:r>
            <a:r>
              <a:rPr lang="de-AT" dirty="0" err="1"/>
              <a:t>structures</a:t>
            </a:r>
            <a:r>
              <a:rPr lang="de-AT" dirty="0"/>
              <a:t> </a:t>
            </a:r>
            <a:r>
              <a:rPr lang="de-AT" dirty="0" err="1"/>
              <a:t>now</a:t>
            </a:r>
            <a:r>
              <a:rPr lang="de-AT" dirty="0"/>
              <a:t> </a:t>
            </a:r>
            <a:r>
              <a:rPr lang="de-AT" dirty="0" err="1"/>
              <a:t>exist</a:t>
            </a:r>
            <a:r>
              <a:rPr lang="de-AT" dirty="0"/>
              <a:t> and traditional </a:t>
            </a:r>
            <a:r>
              <a:rPr lang="de-AT" dirty="0" err="1"/>
              <a:t>search</a:t>
            </a:r>
            <a:r>
              <a:rPr lang="de-AT" dirty="0"/>
              <a:t> </a:t>
            </a:r>
            <a:r>
              <a:rPr lang="de-AT" dirty="0" err="1"/>
              <a:t>tools</a:t>
            </a:r>
            <a:r>
              <a:rPr lang="de-AT" dirty="0"/>
              <a:t> </a:t>
            </a:r>
            <a:r>
              <a:rPr lang="de-AT" dirty="0" err="1"/>
              <a:t>are</a:t>
            </a:r>
            <a:r>
              <a:rPr lang="de-AT" dirty="0"/>
              <a:t> </a:t>
            </a:r>
            <a:r>
              <a:rPr lang="de-AT" dirty="0" err="1"/>
              <a:t>far</a:t>
            </a:r>
            <a:r>
              <a:rPr lang="de-AT" dirty="0"/>
              <a:t> </a:t>
            </a:r>
            <a:r>
              <a:rPr lang="de-AT" dirty="0" err="1"/>
              <a:t>too</a:t>
            </a:r>
            <a:r>
              <a:rPr lang="de-AT" dirty="0"/>
              <a:t> slow </a:t>
            </a:r>
            <a:r>
              <a:rPr lang="de-AT" dirty="0" err="1"/>
              <a:t>to</a:t>
            </a:r>
            <a:r>
              <a:rPr lang="de-AT" dirty="0"/>
              <a:t> handle </a:t>
            </a:r>
            <a:r>
              <a:rPr lang="de-AT" dirty="0" err="1"/>
              <a:t>this</a:t>
            </a:r>
            <a:r>
              <a:rPr lang="de-AT" dirty="0"/>
              <a:t> </a:t>
            </a:r>
            <a:r>
              <a:rPr lang="de-AT" dirty="0" err="1"/>
              <a:t>scale</a:t>
            </a:r>
            <a:r>
              <a:rPr lang="de-AT" dirty="0"/>
              <a:t>.</a:t>
            </a:r>
          </a:p>
          <a:p>
            <a:r>
              <a:rPr lang="de-AT" b="1" dirty="0"/>
              <a:t>The </a:t>
            </a:r>
            <a:r>
              <a:rPr lang="de-AT" b="1" dirty="0" err="1"/>
              <a:t>solution</a:t>
            </a:r>
            <a:r>
              <a:rPr lang="de-AT" dirty="0"/>
              <a:t>: </a:t>
            </a:r>
            <a:r>
              <a:rPr lang="de-AT" dirty="0" err="1"/>
              <a:t>Foldseek</a:t>
            </a:r>
            <a:r>
              <a:rPr lang="de-AT" dirty="0"/>
              <a:t> </a:t>
            </a:r>
            <a:r>
              <a:rPr lang="de-AT" dirty="0" err="1"/>
              <a:t>converts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3D </a:t>
            </a:r>
            <a:r>
              <a:rPr lang="de-AT" dirty="0" err="1"/>
              <a:t>shape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a </a:t>
            </a:r>
            <a:r>
              <a:rPr lang="de-AT" dirty="0" err="1"/>
              <a:t>protein</a:t>
            </a:r>
            <a:r>
              <a:rPr lang="de-AT" dirty="0"/>
              <a:t> </a:t>
            </a:r>
            <a:r>
              <a:rPr lang="de-AT" dirty="0" err="1"/>
              <a:t>into</a:t>
            </a:r>
            <a:r>
              <a:rPr lang="de-AT" dirty="0"/>
              <a:t> a linear </a:t>
            </a:r>
            <a:r>
              <a:rPr lang="de-AT" dirty="0" err="1"/>
              <a:t>sequence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characters</a:t>
            </a:r>
            <a:endParaRPr lang="de-AT" dirty="0"/>
          </a:p>
          <a:p>
            <a:r>
              <a:rPr lang="de-AT" b="1" dirty="0"/>
              <a:t>The </a:t>
            </a:r>
            <a:r>
              <a:rPr lang="de-AT" b="1" dirty="0" err="1"/>
              <a:t>result</a:t>
            </a:r>
            <a:r>
              <a:rPr lang="de-AT" dirty="0"/>
              <a:t>: </a:t>
            </a:r>
            <a:r>
              <a:rPr lang="de-AT" dirty="0" err="1"/>
              <a:t>Structures</a:t>
            </a:r>
            <a:r>
              <a:rPr lang="de-AT" dirty="0"/>
              <a:t> </a:t>
            </a:r>
            <a:r>
              <a:rPr lang="de-AT" dirty="0" err="1"/>
              <a:t>can</a:t>
            </a:r>
            <a:r>
              <a:rPr lang="de-AT" dirty="0"/>
              <a:t> </a:t>
            </a:r>
            <a:r>
              <a:rPr lang="de-AT" dirty="0" err="1"/>
              <a:t>be</a:t>
            </a:r>
            <a:r>
              <a:rPr lang="de-AT" dirty="0"/>
              <a:t> </a:t>
            </a:r>
            <a:r>
              <a:rPr lang="de-AT" dirty="0" err="1"/>
              <a:t>compared</a:t>
            </a:r>
            <a:r>
              <a:rPr lang="de-AT" dirty="0"/>
              <a:t> </a:t>
            </a:r>
            <a:r>
              <a:rPr lang="de-AT" dirty="0" err="1"/>
              <a:t>faster</a:t>
            </a:r>
            <a:r>
              <a:rPr lang="de-AT" dirty="0"/>
              <a:t> </a:t>
            </a:r>
            <a:r>
              <a:rPr lang="de-AT" dirty="0" err="1"/>
              <a:t>than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classical</a:t>
            </a:r>
            <a:r>
              <a:rPr lang="de-AT" dirty="0"/>
              <a:t> </a:t>
            </a:r>
            <a:r>
              <a:rPr lang="de-AT" dirty="0" err="1"/>
              <a:t>tools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864253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F3EDD6-4317-CB69-6106-CE7B8C284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How does it work? 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C19A85F6-3A4D-2A9F-5809-F0449C381E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53301" y="1716088"/>
            <a:ext cx="7772660" cy="459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24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CA57B90-B92C-2765-7DEE-ADAF6DEF9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F1A773C-FBD2-A9F3-99BB-B280EF99D6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351" b="-2"/>
          <a:stretch>
            <a:fillRect/>
          </a:stretch>
        </p:blipFill>
        <p:spPr>
          <a:xfrm>
            <a:off x="1394460" y="419100"/>
            <a:ext cx="9410700" cy="603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26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80D3096-E106-FD85-BFC6-72357402F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CEDCF8D8-AEC9-EB8B-35F3-F92694D62D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2" b="1586"/>
          <a:stretch>
            <a:fillRect/>
          </a:stretch>
        </p:blipFill>
        <p:spPr>
          <a:xfrm>
            <a:off x="419099" y="419100"/>
            <a:ext cx="11353802" cy="603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469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BEB4A-6D8E-7517-E8BD-DDBF958B6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Foldseek</a:t>
            </a:r>
            <a:r>
              <a:rPr lang="en-US" dirty="0"/>
              <a:t>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8D300-5A2A-BD2E-D2E3-9153E42DE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The Problem =&gt;  Comparing protein structures is usually:</a:t>
            </a:r>
          </a:p>
          <a:p>
            <a:pPr lvl="1"/>
            <a:r>
              <a:rPr lang="en-US" dirty="0"/>
              <a:t>Computationally expensive</a:t>
            </a:r>
          </a:p>
          <a:p>
            <a:pPr lvl="1"/>
            <a:r>
              <a:rPr lang="en-US" dirty="0"/>
              <a:t>Slow for huge databases</a:t>
            </a:r>
          </a:p>
          <a:p>
            <a:pPr lvl="1"/>
            <a:r>
              <a:rPr lang="en-US" dirty="0"/>
              <a:t>Difficult at large scale</a:t>
            </a:r>
          </a:p>
          <a:p>
            <a:r>
              <a:rPr lang="en-US" u="sng" dirty="0"/>
              <a:t>What </a:t>
            </a:r>
            <a:r>
              <a:rPr lang="en-US" u="sng" dirty="0" err="1"/>
              <a:t>Foldseek</a:t>
            </a:r>
            <a:r>
              <a:rPr lang="en-US" u="sng" dirty="0"/>
              <a:t> enables:</a:t>
            </a:r>
          </a:p>
          <a:p>
            <a:pPr lvl="1"/>
            <a:r>
              <a:rPr lang="en-US" dirty="0"/>
              <a:t>Ultra-fast protein structure search</a:t>
            </a:r>
          </a:p>
          <a:p>
            <a:pPr lvl="1"/>
            <a:r>
              <a:rPr lang="en-US" dirty="0"/>
              <a:t>Comparison of millions of structures</a:t>
            </a:r>
          </a:p>
          <a:p>
            <a:pPr lvl="1"/>
            <a:r>
              <a:rPr lang="en-US" dirty="0"/>
              <a:t>Scalable structural bioinformatics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=&gt; </a:t>
            </a:r>
            <a:r>
              <a:rPr lang="en-US" b="1" dirty="0" err="1"/>
              <a:t>Foldseek</a:t>
            </a:r>
            <a:r>
              <a:rPr lang="en-US" b="1" dirty="0"/>
              <a:t> made structures comparison practical for the AI-generated protein era.</a:t>
            </a:r>
          </a:p>
        </p:txBody>
      </p:sp>
    </p:spTree>
    <p:extLst>
      <p:ext uri="{BB962C8B-B14F-4D97-AF65-F5344CB8AC3E}">
        <p14:creationId xmlns:p14="http://schemas.microsoft.com/office/powerpoint/2010/main" val="587275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3BAA-D18A-8994-5832-DB065110D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&amp;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78CE6-1760-0A02-194D-42D817FA0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Advantages</a:t>
            </a:r>
          </a:p>
          <a:p>
            <a:pPr lvl="1"/>
            <a:r>
              <a:rPr lang="en-US" dirty="0"/>
              <a:t>Extremely fast</a:t>
            </a:r>
          </a:p>
          <a:p>
            <a:pPr lvl="1"/>
            <a:r>
              <a:rPr lang="en-US" dirty="0"/>
              <a:t>High sensitivity</a:t>
            </a:r>
          </a:p>
          <a:p>
            <a:pPr lvl="1"/>
            <a:r>
              <a:rPr lang="en-US" dirty="0"/>
              <a:t>Scalable</a:t>
            </a:r>
          </a:p>
          <a:p>
            <a:pPr lvl="1"/>
            <a:r>
              <a:rPr lang="en-US" dirty="0"/>
              <a:t>Open &amp; accessible</a:t>
            </a:r>
          </a:p>
          <a:p>
            <a:r>
              <a:rPr lang="en-US" u="sng" dirty="0"/>
              <a:t>Disadvantages</a:t>
            </a:r>
          </a:p>
          <a:p>
            <a:pPr lvl="1"/>
            <a:r>
              <a:rPr lang="en-US" dirty="0"/>
              <a:t>Approximation trade-off</a:t>
            </a:r>
          </a:p>
          <a:p>
            <a:pPr lvl="1"/>
            <a:r>
              <a:rPr lang="en-US" dirty="0"/>
              <a:t>Less accurate than full structural alignment</a:t>
            </a:r>
          </a:p>
          <a:p>
            <a:pPr lvl="1"/>
            <a:r>
              <a:rPr lang="en-US" dirty="0"/>
              <a:t>Requires structural data</a:t>
            </a:r>
          </a:p>
          <a:p>
            <a:pPr lvl="1"/>
            <a:r>
              <a:rPr lang="en-US" dirty="0"/>
              <a:t>Learning curve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830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4EA4B-1E13-10F4-E516-CD48FAE64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A48EB-139D-934A-1E9A-E94F25EFB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Protein function prediction</a:t>
            </a:r>
          </a:p>
          <a:p>
            <a:pPr lvl="1"/>
            <a:r>
              <a:rPr lang="en-US" dirty="0"/>
              <a:t>infer protein function from structural similarity</a:t>
            </a:r>
          </a:p>
          <a:p>
            <a:r>
              <a:rPr lang="en-US" u="sng" dirty="0"/>
              <a:t>Evolutionary biology</a:t>
            </a:r>
          </a:p>
          <a:p>
            <a:pPr lvl="1"/>
            <a:r>
              <a:rPr lang="en-US" dirty="0"/>
              <a:t>identify distant homologs</a:t>
            </a:r>
          </a:p>
          <a:p>
            <a:r>
              <a:rPr lang="en-US" u="sng" dirty="0"/>
              <a:t>Drug discovery</a:t>
            </a:r>
          </a:p>
          <a:p>
            <a:pPr lvl="1"/>
            <a:r>
              <a:rPr lang="en-US" dirty="0"/>
              <a:t>search for structurally related drug targets</a:t>
            </a:r>
          </a:p>
          <a:p>
            <a:r>
              <a:rPr lang="en-US" u="sng" dirty="0"/>
              <a:t>AI protein databases</a:t>
            </a:r>
          </a:p>
          <a:p>
            <a:pPr lvl="1"/>
            <a:r>
              <a:rPr lang="en-US" dirty="0"/>
              <a:t>analyze AlphaFold-generated structures at scale</a:t>
            </a:r>
          </a:p>
          <a:p>
            <a:r>
              <a:rPr lang="en-US" u="sng" dirty="0"/>
              <a:t>Academic research</a:t>
            </a:r>
          </a:p>
          <a:p>
            <a:pPr lvl="1"/>
            <a:r>
              <a:rPr lang="en-US" dirty="0"/>
              <a:t>large-scale comparative structural studies</a:t>
            </a:r>
          </a:p>
        </p:txBody>
      </p:sp>
    </p:spTree>
    <p:extLst>
      <p:ext uri="{BB962C8B-B14F-4D97-AF65-F5344CB8AC3E}">
        <p14:creationId xmlns:p14="http://schemas.microsoft.com/office/powerpoint/2010/main" val="3015943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E96C-2050-C324-0A04-7C197233B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5623560"/>
          </a:xfrm>
        </p:spPr>
        <p:txBody>
          <a:bodyPr numCol="1" anchor="ctr">
            <a:normAutofit/>
          </a:bodyPr>
          <a:lstStyle/>
          <a:p>
            <a:pPr algn="ctr"/>
            <a:r>
              <a:rPr lang="en-US" dirty="0"/>
              <a:t>It is not always the most precise method, but it enables protein structure searches at a scale that was previously impossible.</a:t>
            </a:r>
          </a:p>
        </p:txBody>
      </p:sp>
    </p:spTree>
    <p:extLst>
      <p:ext uri="{BB962C8B-B14F-4D97-AF65-F5344CB8AC3E}">
        <p14:creationId xmlns:p14="http://schemas.microsoft.com/office/powerpoint/2010/main" val="225474628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390</Words>
  <Application>Microsoft Macintosh PowerPoint</Application>
  <PresentationFormat>Widescreen</PresentationFormat>
  <Paragraphs>58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Neue Haas Grotesk Text Pro</vt:lpstr>
      <vt:lpstr>VanillaVTI</vt:lpstr>
      <vt:lpstr>Foldseek</vt:lpstr>
      <vt:lpstr>What is Foldseek?</vt:lpstr>
      <vt:lpstr>How does it work? </vt:lpstr>
      <vt:lpstr>PowerPoint Presentation</vt:lpstr>
      <vt:lpstr>PowerPoint Presentation</vt:lpstr>
      <vt:lpstr>Why Foldseek Matters</vt:lpstr>
      <vt:lpstr>Advantages &amp; Disadvantages</vt:lpstr>
      <vt:lpstr>Applications</vt:lpstr>
      <vt:lpstr>It is not always the most precise method, but it enables protein structure searches at a scale that was previously impossible.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Moser, Pauline (pauline.moser@edu.uni-graz.at)</dc:creator>
  <cp:lastModifiedBy>Koza, Emelie Samia (emelie.koza@edu.uni-graz.at)</cp:lastModifiedBy>
  <cp:revision>3</cp:revision>
  <dcterms:created xsi:type="dcterms:W3CDTF">2026-05-26T13:38:21Z</dcterms:created>
  <dcterms:modified xsi:type="dcterms:W3CDTF">2026-05-27T07:36:03Z</dcterms:modified>
</cp:coreProperties>
</file>